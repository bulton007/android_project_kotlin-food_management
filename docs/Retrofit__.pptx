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67" r:id="rId2"/>
    <p:sldId id="257" r:id="rId3"/>
    <p:sldId id="272" r:id="rId4"/>
    <p:sldId id="258" r:id="rId5"/>
    <p:sldId id="259" r:id="rId6"/>
    <p:sldId id="298" r:id="rId7"/>
    <p:sldId id="289" r:id="rId8"/>
    <p:sldId id="283" r:id="rId9"/>
    <p:sldId id="287" r:id="rId10"/>
    <p:sldId id="286" r:id="rId11"/>
    <p:sldId id="290" r:id="rId12"/>
    <p:sldId id="299" r:id="rId13"/>
    <p:sldId id="300" r:id="rId14"/>
    <p:sldId id="301" r:id="rId15"/>
    <p:sldId id="302" r:id="rId16"/>
    <p:sldId id="294" r:id="rId17"/>
    <p:sldId id="282" r:id="rId18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DF450-7134-46F9-9B95-8765902A06E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539C4-7F1E-4FBF-AFAB-35CF808C2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675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6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8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3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2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6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8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0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4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4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6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95C8A-DFB8-474E-943C-0AA592752B3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1D74F-1A1F-4F63-B20D-CEA8D05A3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5F93-E51B-45C6-AC32-8C960C1AF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902" y="1265428"/>
            <a:ext cx="10737155" cy="3941572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4000" b="1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CS 218 : Computer Science </a:t>
            </a:r>
            <a:br>
              <a:rPr lang="en-US" sz="4000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4400" b="1" cap="small" dirty="0">
                <a:ln w="1905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Topic: </a:t>
            </a:r>
            <a:br>
              <a:rPr lang="en-US" sz="4800" b="1" cap="small" dirty="0">
                <a:ln w="1905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7300" b="1" cap="small" dirty="0">
                <a:ln w="1905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Retrofit</a:t>
            </a:r>
            <a:br>
              <a:rPr lang="en-US" sz="4800" b="1" cap="small" dirty="0">
                <a:ln w="1905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4000" dirty="0">
                <a:ln w="1905"/>
                <a:solidFill>
                  <a:srgbClr val="D282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929" y="4024362"/>
            <a:ext cx="6515100" cy="1009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Lectured by: Mrs. Hong Mom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3595" y="5034012"/>
            <a:ext cx="54382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1 members : 1. </a:t>
            </a:r>
            <a:r>
              <a:rPr lang="en-US" dirty="0" err="1">
                <a:solidFill>
                  <a:schemeClr val="bg1"/>
                </a:solidFill>
              </a:rPr>
              <a:t>Deluch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Ratanak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Bulton</a:t>
            </a:r>
            <a:r>
              <a:rPr lang="en-US" dirty="0">
                <a:solidFill>
                  <a:schemeClr val="bg1"/>
                </a:solidFill>
              </a:rPr>
              <a:t> (*Leader*)</a:t>
            </a:r>
          </a:p>
          <a:p>
            <a:r>
              <a:rPr lang="en-US" dirty="0">
                <a:solidFill>
                  <a:schemeClr val="bg1"/>
                </a:solidFill>
              </a:rPr>
              <a:t>		 2. </a:t>
            </a:r>
            <a:r>
              <a:rPr lang="en-US" dirty="0" err="1">
                <a:solidFill>
                  <a:schemeClr val="bg1"/>
                </a:solidFill>
              </a:rPr>
              <a:t>Heng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VongWattana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 3. </a:t>
            </a:r>
            <a:r>
              <a:rPr lang="en-US" dirty="0" err="1">
                <a:solidFill>
                  <a:schemeClr val="bg1"/>
                </a:solidFill>
              </a:rPr>
              <a:t>Vuthy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Chansopheaktra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 4. Noun </a:t>
            </a:r>
            <a:r>
              <a:rPr lang="en-US" dirty="0" err="1">
                <a:solidFill>
                  <a:schemeClr val="bg1"/>
                </a:solidFill>
              </a:rPr>
              <a:t>Ratana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 5. Hun </a:t>
            </a:r>
            <a:r>
              <a:rPr lang="en-US" dirty="0" err="1">
                <a:solidFill>
                  <a:schemeClr val="bg1"/>
                </a:solidFill>
              </a:rPr>
              <a:t>Borin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084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92" y="192505"/>
            <a:ext cx="5014762" cy="808521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Chapter 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147" y="1241659"/>
            <a:ext cx="9952522" cy="5111016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   Introduction to Retrofit</a:t>
            </a:r>
          </a:p>
          <a:p>
            <a:pPr marL="0" indent="0">
              <a:buNone/>
            </a:pPr>
            <a:r>
              <a:rPr lang="en-US" dirty="0"/>
              <a:t>2.    Why Use Retrofit?</a:t>
            </a:r>
          </a:p>
          <a:p>
            <a:pPr marL="0" indent="0">
              <a:buNone/>
            </a:pPr>
            <a:r>
              <a:rPr lang="en-US" dirty="0"/>
              <a:t>3.    How Retrofit Works</a:t>
            </a:r>
          </a:p>
          <a:p>
            <a:pPr marL="0" indent="0">
              <a:buNone/>
            </a:pPr>
            <a:r>
              <a:rPr lang="en-US" dirty="0"/>
              <a:t>            3.1 Data Model</a:t>
            </a:r>
          </a:p>
          <a:p>
            <a:pPr marL="0" indent="0">
              <a:buNone/>
            </a:pPr>
            <a:r>
              <a:rPr lang="en-US" dirty="0"/>
              <a:t>            3.2 API Interface</a:t>
            </a:r>
          </a:p>
          <a:p>
            <a:pPr marL="0" indent="0">
              <a:buNone/>
            </a:pPr>
            <a:r>
              <a:rPr lang="en-US" dirty="0"/>
              <a:t>            3.3 Retrofit Instance</a:t>
            </a:r>
          </a:p>
          <a:p>
            <a:pPr marL="0" indent="0">
              <a:buNone/>
            </a:pPr>
            <a:r>
              <a:rPr lang="en-US" dirty="0"/>
              <a:t>            3.4 API Call</a:t>
            </a:r>
          </a:p>
          <a:p>
            <a:pPr marL="0" indent="0">
              <a:buNone/>
            </a:pPr>
            <a:r>
              <a:rPr lang="en-US" dirty="0"/>
              <a:t>4.    Advantages &amp; Disadvantages</a:t>
            </a:r>
          </a:p>
          <a:p>
            <a:pPr marL="0" indent="0">
              <a:buNone/>
            </a:pPr>
            <a:r>
              <a:rPr lang="en-US" dirty="0"/>
              <a:t>5.    Real-Life Applications</a:t>
            </a:r>
          </a:p>
          <a:p>
            <a:pPr marL="514350" indent="-514350">
              <a:buAutoNum type="arabicPeriod" startAt="6"/>
            </a:pPr>
            <a:r>
              <a:rPr lang="en-US" dirty="0"/>
              <a:t>Conclusion </a:t>
            </a:r>
          </a:p>
          <a:p>
            <a:pPr marL="514350" indent="-514350">
              <a:buAutoNum type="arabicPeriod" startAt="6"/>
            </a:pPr>
            <a:r>
              <a:rPr lang="en-US" dirty="0"/>
              <a:t>Demo project ( Food Management 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5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0901" y="1032163"/>
            <a:ext cx="10421983" cy="4658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 What is Retrofit?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2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632" y="349375"/>
            <a:ext cx="7035703" cy="9981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 Introduction to Retrofit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12" y="1819174"/>
            <a:ext cx="10515600" cy="41292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Retrofit is a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 for Android</a:t>
            </a:r>
          </a:p>
          <a:p>
            <a:pPr marL="0" lv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It helps your app connect to a web server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(API)</a:t>
            </a:r>
          </a:p>
          <a:p>
            <a:pPr marL="0" lv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Developed by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Square, Inc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It converts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data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/Java objects</a:t>
            </a:r>
          </a:p>
          <a:p>
            <a:pPr marL="0" lv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Simple idea:</a:t>
            </a:r>
          </a:p>
          <a:p>
            <a:pPr marL="0" lvl="0" indent="0" algn="ctr">
              <a:buNone/>
            </a:pPr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Retrofit = a tool to get data from the internet easily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4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071" y="513640"/>
            <a:ext cx="10515600" cy="819794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2. Why Use Retrofit?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071" y="1570556"/>
            <a:ext cx="10848703" cy="4516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 Easy to use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 Clean and readable code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 Supports HTTP methods: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(get data)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	•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(send data)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	•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(update data)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	•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(delete data)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 Automatically converts JSON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 Saves development time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5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815" y="250982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3. Advantages &amp; Disadvantages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6562" y="1912068"/>
            <a:ext cx="57069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✔ Reduces complex code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✔ Easy API integration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✔ Fast and efficient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✔ Works well with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4788" y="2008320"/>
            <a:ext cx="655721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❌ Needs internet connection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❌ Requires API knowledge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❌ Errors if JSON structure is wrong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5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71" y="589131"/>
            <a:ext cx="10515600" cy="1028246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4.    Real-Life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571" y="1862954"/>
            <a:ext cx="7660571" cy="402770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• 🔐 Login systems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• 🍔 Food ordering apps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• 📱 Social media apps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• 🌍 Country information apps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0">
              <a:buNone/>
            </a:pPr>
            <a:endParaRPr lang="en-US" i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00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858" y="548833"/>
            <a:ext cx="5189042" cy="1178367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 How Retrofit Works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5.1 Data Model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572" y="1586317"/>
            <a:ext cx="10848703" cy="50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A data model represents the structure of data from the API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It matches the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format from the server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Written as a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class Product(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id: Int,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name: String,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price: Double)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==&gt; When the server sends JSON data, Retrofit converts it into this object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9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0498"/>
            <a:ext cx="10515600" cy="819794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5.2 Retrofit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0680"/>
            <a:ext cx="10848703" cy="56173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• This is the main configuration of Retrofit</a:t>
            </a:r>
          </a:p>
          <a:p>
            <a:pPr marL="0" indent="0">
              <a:buNone/>
            </a:pPr>
            <a:r>
              <a:rPr lang="en-US" sz="3000" dirty="0"/>
              <a:t>• It connects your app to the API base URL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u="sng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private const </a:t>
            </a:r>
            <a:r>
              <a:rPr lang="en-US" dirty="0" err="1">
                <a:solidFill>
                  <a:srgbClr val="002060"/>
                </a:solidFill>
              </a:rPr>
              <a:t>val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BASE_URL</a:t>
            </a:r>
            <a:r>
              <a:rPr lang="en-US" dirty="0">
                <a:solidFill>
                  <a:srgbClr val="002060"/>
                </a:solidFill>
              </a:rPr>
              <a:t> = "http://10.0.2.2:8000/</a:t>
            </a:r>
            <a:r>
              <a:rPr lang="en-US" dirty="0" err="1">
                <a:solidFill>
                  <a:srgbClr val="002060"/>
                </a:solidFill>
              </a:rPr>
              <a:t>api</a:t>
            </a:r>
            <a:r>
              <a:rPr lang="en-US" dirty="0">
                <a:solidFill>
                  <a:srgbClr val="002060"/>
                </a:solidFill>
              </a:rPr>
              <a:t>/"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dirty="0" err="1">
                <a:solidFill>
                  <a:srgbClr val="002060"/>
                </a:solidFill>
              </a:rPr>
              <a:t>val</a:t>
            </a:r>
            <a:r>
              <a:rPr lang="en-US" dirty="0">
                <a:solidFill>
                  <a:srgbClr val="002060"/>
                </a:solidFill>
              </a:rPr>
              <a:t> instance: </a:t>
            </a:r>
            <a:r>
              <a:rPr lang="en-US" dirty="0" err="1">
                <a:solidFill>
                  <a:srgbClr val="002060"/>
                </a:solidFill>
              </a:rPr>
              <a:t>ApiService</a:t>
            </a:r>
            <a:r>
              <a:rPr lang="en-US" dirty="0">
                <a:solidFill>
                  <a:srgbClr val="002060"/>
                </a:solidFill>
              </a:rPr>
              <a:t> by lazy {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	</a:t>
            </a:r>
            <a:r>
              <a:rPr lang="en-US" dirty="0" err="1">
                <a:solidFill>
                  <a:srgbClr val="002060"/>
                </a:solidFill>
              </a:rPr>
              <a:t>Retrofit.Builder</a:t>
            </a:r>
            <a:r>
              <a:rPr lang="en-US" dirty="0">
                <a:solidFill>
                  <a:srgbClr val="002060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	.</a:t>
            </a:r>
            <a:r>
              <a:rPr lang="en-US" dirty="0" err="1">
                <a:solidFill>
                  <a:srgbClr val="002060"/>
                </a:solidFill>
              </a:rPr>
              <a:t>baseUrl</a:t>
            </a:r>
            <a:r>
              <a:rPr lang="en-US" dirty="0">
                <a:solidFill>
                  <a:srgbClr val="002060"/>
                </a:solidFill>
              </a:rPr>
              <a:t>(</a:t>
            </a:r>
            <a:r>
              <a:rPr lang="en-US" dirty="0" err="1">
                <a:solidFill>
                  <a:srgbClr val="002060"/>
                </a:solidFill>
              </a:rPr>
              <a:t>BASE_URL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	.</a:t>
            </a:r>
            <a:r>
              <a:rPr lang="en-US" dirty="0" err="1">
                <a:solidFill>
                  <a:srgbClr val="002060"/>
                </a:solidFill>
              </a:rPr>
              <a:t>addConverterFactory</a:t>
            </a:r>
            <a:r>
              <a:rPr lang="en-US" dirty="0">
                <a:solidFill>
                  <a:srgbClr val="002060"/>
                </a:solidFill>
              </a:rPr>
              <a:t>(</a:t>
            </a:r>
            <a:r>
              <a:rPr lang="en-US" dirty="0" err="1">
                <a:solidFill>
                  <a:srgbClr val="002060"/>
                </a:solidFill>
              </a:rPr>
              <a:t>GsonConverterFactory.create</a:t>
            </a:r>
            <a:r>
              <a:rPr lang="en-US" dirty="0">
                <a:solidFill>
                  <a:srgbClr val="002060"/>
                </a:solidFill>
              </a:rPr>
              <a:t>())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	.build()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	.create(</a:t>
            </a:r>
            <a:r>
              <a:rPr lang="en-US" dirty="0" err="1">
                <a:solidFill>
                  <a:srgbClr val="002060"/>
                </a:solidFill>
              </a:rPr>
              <a:t>ApiService</a:t>
            </a:r>
            <a:r>
              <a:rPr lang="en-US" dirty="0">
                <a:solidFill>
                  <a:srgbClr val="002060"/>
                </a:solidFill>
              </a:rPr>
              <a:t>::</a:t>
            </a:r>
            <a:r>
              <a:rPr lang="en-US" dirty="0" err="1">
                <a:solidFill>
                  <a:srgbClr val="002060"/>
                </a:solidFill>
              </a:rPr>
              <a:t>class.java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baseUrl</a:t>
            </a:r>
            <a:r>
              <a:rPr lang="en-US" dirty="0"/>
              <a:t> → main API link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GsonConverterFactory</a:t>
            </a:r>
            <a:r>
              <a:rPr lang="en-US" dirty="0"/>
              <a:t> → converts JSON to objects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4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504" y="485880"/>
            <a:ext cx="10515600" cy="10282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5.3 API Interface</a:t>
            </a:r>
            <a:br>
              <a:rPr lang="en-US" dirty="0"/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57" y="1250258"/>
            <a:ext cx="10848703" cy="5352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• Defines API endpoints (URLs) and request methods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• Uses annotations like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@GET, @POST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i="1" u="sng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ApiService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	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@GET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("products")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	suspend fun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getProducts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(): Response&lt;List&lt;Product&gt;&gt;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@GET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("users") → request data from /users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• Returns a list of User objects</a:t>
            </a:r>
          </a:p>
          <a:p>
            <a:pPr marL="457200" indent="0">
              <a:buNone/>
            </a:pPr>
            <a:endParaRPr lang="en-US" sz="2000" i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6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50" y="170688"/>
            <a:ext cx="3262162" cy="1059414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5.4 API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950" y="1232035"/>
            <a:ext cx="10515600" cy="5524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This is where the app requests data from the server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retrofit.create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ApiService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::class.java)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call =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api.getUsers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call.enqueue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(object : Callback&lt;List&lt;User&gt;&gt;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override fun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onResponse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(call: Call&lt;List&lt;User&gt;&gt;, response: Response&lt;List&lt;User&gt;&gt;)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=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response.body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override fun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onFailure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(call: Call&lt;List&lt;User&gt;&gt;, t: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Throwable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// Handle error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64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50" y="170688"/>
            <a:ext cx="7167582" cy="1059414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Key Features of Retrofit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6C879A-EAFB-731F-0715-7143FFD7AC30}"/>
              </a:ext>
            </a:extLst>
          </p:cNvPr>
          <p:cNvSpPr txBox="1">
            <a:spLocks/>
          </p:cNvSpPr>
          <p:nvPr/>
        </p:nvSpPr>
        <p:spPr>
          <a:xfrm>
            <a:off x="695879" y="700395"/>
            <a:ext cx="7556869" cy="1178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6.1. Annotation-Based Request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86DDA-8293-45EF-B14A-4EC4EB0A5D6E}"/>
              </a:ext>
            </a:extLst>
          </p:cNvPr>
          <p:cNvSpPr txBox="1"/>
          <p:nvPr/>
        </p:nvSpPr>
        <p:spPr>
          <a:xfrm>
            <a:off x="818950" y="1878762"/>
            <a:ext cx="103260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Annotation means giving    instruction to Retrofit without writing actual logic. </a:t>
            </a:r>
          </a:p>
          <a:p>
            <a:r>
              <a:rPr lang="en-US" sz="2400" dirty="0">
                <a:solidFill>
                  <a:srgbClr val="00B050"/>
                </a:solidFill>
              </a:rPr>
              <a:t>@GET </a:t>
            </a:r>
            <a:r>
              <a:rPr lang="en-US" sz="2400" dirty="0"/>
              <a:t>→ </a:t>
            </a:r>
            <a:r>
              <a:rPr lang="en-US" sz="2400" dirty="0" err="1"/>
              <a:t>Retrive</a:t>
            </a:r>
            <a:r>
              <a:rPr lang="en-US" sz="2400" dirty="0"/>
              <a:t> or Get data</a:t>
            </a:r>
          </a:p>
          <a:p>
            <a:r>
              <a:rPr lang="en-US" sz="2400" dirty="0">
                <a:solidFill>
                  <a:srgbClr val="00B050"/>
                </a:solidFill>
              </a:rPr>
              <a:t>@POST </a:t>
            </a:r>
            <a:r>
              <a:rPr lang="en-US" sz="2400" dirty="0"/>
              <a:t>→ Send data</a:t>
            </a:r>
          </a:p>
          <a:p>
            <a:r>
              <a:rPr lang="en-US" sz="2400" dirty="0">
                <a:solidFill>
                  <a:srgbClr val="00B050"/>
                </a:solidFill>
              </a:rPr>
              <a:t>@PUT </a:t>
            </a:r>
            <a:r>
              <a:rPr lang="en-US" sz="2400" dirty="0"/>
              <a:t>→ Update</a:t>
            </a:r>
          </a:p>
          <a:p>
            <a:r>
              <a:rPr lang="en-US" sz="2400" dirty="0">
                <a:solidFill>
                  <a:srgbClr val="00B050"/>
                </a:solidFill>
              </a:rPr>
              <a:t>@DELETE </a:t>
            </a:r>
            <a:r>
              <a:rPr lang="en-US" sz="2400" dirty="0"/>
              <a:t>→ Delete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C4C03-FCA5-B011-281D-8D28075F0F89}"/>
              </a:ext>
            </a:extLst>
          </p:cNvPr>
          <p:cNvSpPr txBox="1"/>
          <p:nvPr/>
        </p:nvSpPr>
        <p:spPr>
          <a:xfrm>
            <a:off x="818950" y="4255870"/>
            <a:ext cx="60969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Example: @GET(“products”)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    fun </a:t>
            </a:r>
            <a:r>
              <a:rPr lang="en-US" sz="2400" dirty="0" err="1">
                <a:solidFill>
                  <a:srgbClr val="0070C0"/>
                </a:solidFill>
              </a:rPr>
              <a:t>getProducts</a:t>
            </a:r>
            <a:r>
              <a:rPr lang="en-US" sz="2400" dirty="0">
                <a:solidFill>
                  <a:srgbClr val="0070C0"/>
                </a:solidFill>
              </a:rPr>
              <a:t>(): Call&lt;List&gt;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A7D7E-7610-DB5E-092F-7ED49763F06A}"/>
              </a:ext>
            </a:extLst>
          </p:cNvPr>
          <p:cNvSpPr txBox="1"/>
          <p:nvPr/>
        </p:nvSpPr>
        <p:spPr>
          <a:xfrm>
            <a:off x="818949" y="5380261"/>
            <a:ext cx="9795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// This is an annotation. It tells Retrofit to send a    GET request to the “products” endpoint.</a:t>
            </a:r>
          </a:p>
        </p:txBody>
      </p:sp>
    </p:spTree>
    <p:extLst>
      <p:ext uri="{BB962C8B-B14F-4D97-AF65-F5344CB8AC3E}">
        <p14:creationId xmlns:p14="http://schemas.microsoft.com/office/powerpoint/2010/main" val="1857993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50" y="170688"/>
            <a:ext cx="7167582" cy="1059414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Key Features of Retrofit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6C879A-EAFB-731F-0715-7143FFD7AC30}"/>
              </a:ext>
            </a:extLst>
          </p:cNvPr>
          <p:cNvSpPr txBox="1">
            <a:spLocks/>
          </p:cNvSpPr>
          <p:nvPr/>
        </p:nvSpPr>
        <p:spPr>
          <a:xfrm>
            <a:off x="695879" y="700395"/>
            <a:ext cx="7556869" cy="1178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6.2. Parameter Annotations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BF3F3-7F09-4283-1294-14D5DCDAB9C2}"/>
              </a:ext>
            </a:extLst>
          </p:cNvPr>
          <p:cNvSpPr txBox="1"/>
          <p:nvPr/>
        </p:nvSpPr>
        <p:spPr>
          <a:xfrm>
            <a:off x="240214" y="1878762"/>
            <a:ext cx="1149072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</a:rPr>
              <a:t>@Path </a:t>
            </a:r>
            <a:r>
              <a:rPr lang="en-US" dirty="0"/>
              <a:t>example: </a:t>
            </a:r>
            <a:r>
              <a:rPr lang="en-US" dirty="0">
                <a:solidFill>
                  <a:schemeClr val="accent2"/>
                </a:solidFill>
              </a:rPr>
              <a:t>@GET</a:t>
            </a:r>
            <a:r>
              <a:rPr lang="en-US" dirty="0"/>
              <a:t>(“products/{id}”)</a:t>
            </a:r>
          </a:p>
          <a:p>
            <a:pPr>
              <a:lnSpc>
                <a:spcPct val="150000"/>
              </a:lnSpc>
            </a:pPr>
            <a:r>
              <a:rPr lang="en-US" dirty="0"/>
              <a:t>	              fun </a:t>
            </a:r>
            <a:r>
              <a:rPr lang="en-US" dirty="0" err="1"/>
              <a:t>getProduct</a:t>
            </a:r>
            <a:r>
              <a:rPr lang="en-US" dirty="0"/>
              <a:t>(@Path(“id”) id: Int):  // Call This replaces {id} with actual </a:t>
            </a:r>
            <a:r>
              <a:rPr lang="en-US" dirty="0" err="1"/>
              <a:t>value.Example</a:t>
            </a:r>
            <a:r>
              <a:rPr lang="en-US" dirty="0"/>
              <a:t>: /products/1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</a:rPr>
              <a:t>@Query </a:t>
            </a:r>
            <a:r>
              <a:rPr lang="en-US" dirty="0"/>
              <a:t>example: </a:t>
            </a:r>
            <a:r>
              <a:rPr lang="en-US" dirty="0">
                <a:solidFill>
                  <a:schemeClr val="accent2"/>
                </a:solidFill>
              </a:rPr>
              <a:t>@GET</a:t>
            </a:r>
            <a:r>
              <a:rPr lang="en-US" dirty="0"/>
              <a:t>(“products”)</a:t>
            </a:r>
          </a:p>
          <a:p>
            <a:pPr>
              <a:lnSpc>
                <a:spcPct val="150000"/>
              </a:lnSpc>
            </a:pPr>
            <a:r>
              <a:rPr lang="en-US" dirty="0"/>
              <a:t>  	                fun </a:t>
            </a:r>
            <a:r>
              <a:rPr lang="en-US" dirty="0" err="1"/>
              <a:t>getProducts</a:t>
            </a:r>
            <a:r>
              <a:rPr lang="en-US" dirty="0"/>
              <a:t>(@Query(“page”) page: Int):   // Call&lt;List&gt; This creates URL like: </a:t>
            </a:r>
            <a:r>
              <a:rPr lang="en-US" dirty="0" err="1"/>
              <a:t>products?page</a:t>
            </a:r>
            <a:r>
              <a:rPr lang="en-US" dirty="0"/>
              <a:t>=1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</a:rPr>
              <a:t>@Body </a:t>
            </a:r>
            <a:r>
              <a:rPr lang="en-US" dirty="0"/>
              <a:t>example: </a:t>
            </a:r>
            <a:r>
              <a:rPr lang="en-US" dirty="0">
                <a:solidFill>
                  <a:schemeClr val="accent2"/>
                </a:solidFill>
              </a:rPr>
              <a:t>@POST</a:t>
            </a:r>
            <a:r>
              <a:rPr lang="en-US" dirty="0"/>
              <a:t>(“products”)</a:t>
            </a:r>
          </a:p>
          <a:p>
            <a:pPr>
              <a:lnSpc>
                <a:spcPct val="150000"/>
              </a:lnSpc>
            </a:pPr>
            <a:r>
              <a:rPr lang="en-US" dirty="0"/>
              <a:t>	              fun </a:t>
            </a:r>
            <a:r>
              <a:rPr lang="en-US" dirty="0" err="1"/>
              <a:t>addProduct</a:t>
            </a:r>
            <a:r>
              <a:rPr lang="en-US" dirty="0"/>
              <a:t>(@Body product: Product): `   // </a:t>
            </a:r>
            <a:r>
              <a:rPr lang="en-US" dirty="0" err="1"/>
              <a:t>CallThis</a:t>
            </a:r>
            <a:r>
              <a:rPr lang="en-US" dirty="0"/>
              <a:t> sends JSON data in request body.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</a:rPr>
              <a:t>@Part </a:t>
            </a:r>
            <a:r>
              <a:rPr lang="en-US" dirty="0"/>
              <a:t>example: </a:t>
            </a:r>
            <a:r>
              <a:rPr lang="en-US" dirty="0">
                <a:solidFill>
                  <a:schemeClr val="accent2"/>
                </a:solidFill>
              </a:rPr>
              <a:t>@Multipart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	            </a:t>
            </a:r>
            <a:r>
              <a:rPr lang="en-US" dirty="0">
                <a:solidFill>
                  <a:schemeClr val="accent2"/>
                </a:solidFill>
              </a:rPr>
              <a:t>@POST</a:t>
            </a:r>
            <a:r>
              <a:rPr lang="en-US" dirty="0"/>
              <a:t>(“products”) </a:t>
            </a:r>
          </a:p>
          <a:p>
            <a:pPr>
              <a:lnSpc>
                <a:spcPct val="150000"/>
              </a:lnSpc>
            </a:pPr>
            <a:r>
              <a:rPr lang="en-US" dirty="0"/>
              <a:t>	            fun </a:t>
            </a:r>
            <a:r>
              <a:rPr lang="en-US" dirty="0" err="1"/>
              <a:t>addProduct</a:t>
            </a:r>
            <a:r>
              <a:rPr lang="en-US" dirty="0"/>
              <a:t>(@Part(“title”) title: </a:t>
            </a:r>
            <a:r>
              <a:rPr lang="en-US" dirty="0" err="1"/>
              <a:t>RequestBody</a:t>
            </a:r>
            <a:r>
              <a:rPr lang="en-US" dirty="0"/>
              <a:t>, @Part images: List&lt;</a:t>
            </a:r>
            <a:r>
              <a:rPr lang="en-US" dirty="0" err="1"/>
              <a:t>MultipartBody.Part</a:t>
            </a:r>
            <a:r>
              <a:rPr lang="en-US" dirty="0"/>
              <a:t>&gt; )</a:t>
            </a:r>
          </a:p>
          <a:p>
            <a:pPr>
              <a:lnSpc>
                <a:spcPct val="150000"/>
              </a:lnSpc>
            </a:pPr>
            <a:r>
              <a:rPr lang="en-US" dirty="0"/>
              <a:t>Used for file/image upload.</a:t>
            </a:r>
          </a:p>
        </p:txBody>
      </p:sp>
    </p:spTree>
    <p:extLst>
      <p:ext uri="{BB962C8B-B14F-4D97-AF65-F5344CB8AC3E}">
        <p14:creationId xmlns:p14="http://schemas.microsoft.com/office/powerpoint/2010/main" val="4047005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50" y="170688"/>
            <a:ext cx="7167582" cy="1059414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Key Features of Retrofit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6C879A-EAFB-731F-0715-7143FFD7AC30}"/>
              </a:ext>
            </a:extLst>
          </p:cNvPr>
          <p:cNvSpPr txBox="1">
            <a:spLocks/>
          </p:cNvSpPr>
          <p:nvPr/>
        </p:nvSpPr>
        <p:spPr>
          <a:xfrm>
            <a:off x="695879" y="700395"/>
            <a:ext cx="7556869" cy="1178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6.3 Retrofit JSON Conversion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BF3F3-7F09-4283-1294-14D5DCDAB9C2}"/>
              </a:ext>
            </a:extLst>
          </p:cNvPr>
          <p:cNvSpPr txBox="1"/>
          <p:nvPr/>
        </p:nvSpPr>
        <p:spPr>
          <a:xfrm>
            <a:off x="494856" y="2671107"/>
            <a:ext cx="11490727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Retrofit uses </a:t>
            </a:r>
            <a:r>
              <a:rPr lang="en-US" sz="2800" dirty="0" err="1"/>
              <a:t>Gson</a:t>
            </a:r>
            <a:r>
              <a:rPr lang="en-US" sz="2800" dirty="0"/>
              <a:t> or Moshi to convert JSON into Kotlin </a:t>
            </a:r>
            <a:r>
              <a:rPr lang="en-US" sz="2800" dirty="0" err="1"/>
              <a:t>objectsautomatically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Example JSON: { “id”: 1, “name”: “Burger” }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Becomes: Product(1, “Burger”)</a:t>
            </a:r>
          </a:p>
        </p:txBody>
      </p:sp>
    </p:spTree>
    <p:extLst>
      <p:ext uri="{BB962C8B-B14F-4D97-AF65-F5344CB8AC3E}">
        <p14:creationId xmlns:p14="http://schemas.microsoft.com/office/powerpoint/2010/main" val="2002417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50" y="170688"/>
            <a:ext cx="7167582" cy="1059414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Key Features of Retrofit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6C879A-EAFB-731F-0715-7143FFD7AC30}"/>
              </a:ext>
            </a:extLst>
          </p:cNvPr>
          <p:cNvSpPr txBox="1">
            <a:spLocks/>
          </p:cNvSpPr>
          <p:nvPr/>
        </p:nvSpPr>
        <p:spPr>
          <a:xfrm>
            <a:off x="695879" y="700395"/>
            <a:ext cx="7556869" cy="1178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6.4 Asynchronous Calls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BF3F3-7F09-4283-1294-14D5DCDAB9C2}"/>
              </a:ext>
            </a:extLst>
          </p:cNvPr>
          <p:cNvSpPr txBox="1"/>
          <p:nvPr/>
        </p:nvSpPr>
        <p:spPr>
          <a:xfrm>
            <a:off x="350636" y="2130199"/>
            <a:ext cx="11490727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Asynchronous Calls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 </a:t>
            </a:r>
            <a:r>
              <a:rPr lang="en-US" sz="2400" dirty="0" err="1"/>
              <a:t>call.enqueue</a:t>
            </a:r>
            <a:r>
              <a:rPr lang="en-US" sz="2400" dirty="0"/>
              <a:t>(…)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    -   Runs in background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    -   App does not freeze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    -   </a:t>
            </a:r>
            <a:r>
              <a:rPr lang="en-US" sz="2400" dirty="0" err="1"/>
              <a:t>onResponse</a:t>
            </a:r>
            <a:r>
              <a:rPr lang="en-US" sz="2400" dirty="0"/>
              <a:t>() → success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    -   </a:t>
            </a:r>
            <a:r>
              <a:rPr lang="en-US" sz="2400" dirty="0" err="1"/>
              <a:t>onFailure</a:t>
            </a:r>
            <a:r>
              <a:rPr lang="en-US" sz="2400" dirty="0"/>
              <a:t>() → error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FB4B8B-7FD6-EB3C-E7BC-F3D5F145D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354" y="2319161"/>
            <a:ext cx="6105646" cy="31700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viewModel.getCategoriesSuspend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{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if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it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isSuccessful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&amp;&amp;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it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.body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() != null)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val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categoryList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=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it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.body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()!!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recyclerCategory.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adapter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=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CategoryAdapter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categoryList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{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category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-&gt;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filterProduct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(category)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}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387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196" y="502505"/>
            <a:ext cx="10515600" cy="1028246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7.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903" y="1901454"/>
            <a:ext cx="11421726" cy="2709047"/>
          </a:xfrm>
        </p:spPr>
        <p:txBody>
          <a:bodyPr>
            <a:normAutofit/>
          </a:bodyPr>
          <a:lstStyle/>
          <a:p>
            <a:pPr marL="457200" indent="0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• Retrofit is very important for Android development</a:t>
            </a:r>
          </a:p>
          <a:p>
            <a:pPr marL="457200" indent="0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• It makes API communication simple and fast</a:t>
            </a:r>
          </a:p>
          <a:p>
            <a:pPr marL="457200" indent="0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• It is widely used in real-world applications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9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9" y="192505"/>
            <a:ext cx="1869031" cy="5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3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1145</Words>
  <Application>Microsoft Office PowerPoint</Application>
  <PresentationFormat>Widescreen</PresentationFormat>
  <Paragraphs>143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JetBrains Mono</vt:lpstr>
      <vt:lpstr>Office Theme</vt:lpstr>
      <vt:lpstr>                      CS 218 : Computer Science  Topic:   Retrofit     </vt:lpstr>
      <vt:lpstr>Chapter Outlines</vt:lpstr>
      <vt:lpstr>PowerPoint Presentation</vt:lpstr>
      <vt:lpstr>1. Introduction to Retrofit</vt:lpstr>
      <vt:lpstr>2. Why Use Retrofit?</vt:lpstr>
      <vt:lpstr>3. Advantages &amp; Disadvantages</vt:lpstr>
      <vt:lpstr>4.    Real-Life Applications</vt:lpstr>
      <vt:lpstr> 5. How Retrofit Works  5.1 Data Model </vt:lpstr>
      <vt:lpstr>5.2 Retrofit Instance</vt:lpstr>
      <vt:lpstr>5.3 API Interface </vt:lpstr>
      <vt:lpstr>5.4 API Call</vt:lpstr>
      <vt:lpstr>6. Key Features of Retrofit</vt:lpstr>
      <vt:lpstr>6. Key Features of Retrofit</vt:lpstr>
      <vt:lpstr>6. Key Features of Retrofit</vt:lpstr>
      <vt:lpstr>6. Key Features of Retrofit</vt:lpstr>
      <vt:lpstr>7.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 204   Unit 1</dc:title>
  <dc:creator>ACLEDA</dc:creator>
  <cp:lastModifiedBy>DELUCH RATANAKBULTON_0009244</cp:lastModifiedBy>
  <cp:revision>122</cp:revision>
  <cp:lastPrinted>2020-07-08T08:43:37Z</cp:lastPrinted>
  <dcterms:created xsi:type="dcterms:W3CDTF">2020-06-25T03:13:36Z</dcterms:created>
  <dcterms:modified xsi:type="dcterms:W3CDTF">2026-04-05T04:30:31Z</dcterms:modified>
</cp:coreProperties>
</file>